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Haettenschweiler" panose="020B0706040902060204" pitchFamily="34" charset="0"/>
      <p:regular r:id="rId14"/>
    </p:embeddedFont>
    <p:embeddedFont>
      <p:font typeface="Roboto" panose="02000000000000000000" pitchFamily="2" charset="0"/>
      <p:regular r:id="rId15"/>
    </p:embeddedFont>
    <p:embeddedFont>
      <p:font typeface="Roboto Bold" panose="020B0604020202020204" charset="0"/>
      <p:regular r:id="rId16"/>
    </p:embeddedFont>
    <p:embeddedFont>
      <p:font typeface="Roboto Slab" pitchFamily="2" charset="0"/>
      <p:regular r:id="rId17"/>
    </p:embeddedFont>
    <p:embeddedFont>
      <p:font typeface="Roboto Slab Light" pitchFamily="2" charset="0"/>
      <p:regular r:id="rId18"/>
    </p:embeddedFont>
    <p:embeddedFont>
      <p:font typeface="Trade Gothic Next Light" panose="020B0403040303020004" pitchFamily="3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5696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B8170F-0370-4A38-8BF3-83D69476AE62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40266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15516-589F-487D-BF51-9635DCEA90D5}" type="datetime1">
              <a:rPr lang="en-US" smtClean="0"/>
              <a:t>8/25/2026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162982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BD5D1244-0536-4076-95F8-65E3144966FF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47098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F94E15-B448-489B-871D-A40527BFA7B7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47037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E994A23-0EFF-404D-A2C5-6B54939039AD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81808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311C3-93DB-42DC-917F-4386F19A1E3B}" type="datetime1">
              <a:rPr lang="en-US" smtClean="0"/>
              <a:t>8/25/2026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72658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948C47DC-C479-4517-B1B0-94DB01BA76E7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86929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F92C9D0B-C1A3-434D-9CF9-A666A14DD8A1}" type="datetime1">
              <a:rPr lang="en-US" smtClean="0"/>
              <a:t>8/25/2026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02456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742A22FE-7CAA-4561-B3B2-F8D8C37BE3D2}" type="datetime1">
              <a:rPr lang="en-US" smtClean="0"/>
              <a:t>8/25/2026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858183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491FA625-EDE8-4CCD-93F2-36B8EAED6AA1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602891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5824A7B9-17B9-4425-9158-739F678A55EB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790543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28E8FF4C-7F6A-4962-9270-F797B8959287}" type="datetime1">
              <a:rPr lang="en-US" smtClean="0"/>
              <a:t>8/25/2026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523287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064F86E1-145A-4683-AD05-97E7E41B4995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330059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96B14CE5-CB23-4F24-AF40-FFA10F25B799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138246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939A3FF-4925-4C53-B6D9-F2B1807D4179}" type="datetime1">
              <a:rPr lang="en-US" smtClean="0"/>
              <a:t>8/25/2026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024705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220747AD-BB60-464B-B16B-6CC7DCEAA31E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897462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340F08F-40FA-4D3B-96CF-F8FAF483E9A7}" type="datetime1">
              <a:rPr lang="en-US" smtClean="0"/>
              <a:t>8/25/2026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8002892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EB5EDF0F-3515-4895-B663-882304741893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7229189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5B29ED0-7871-4976-8402-1756C1FAC1EA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425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453B8C54-B76A-4DD8-BD0B-11200408342B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10456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5448BDD-274C-4BED-8350-833672089118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40498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D527F-9C49-4481-A18C-80BA2EA99E79}" type="datetime1">
              <a:rPr lang="en-US" smtClean="0"/>
              <a:t>8/25/2026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706355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039EB-95FD-42A0-BF06-87A9D15142C9}" type="datetime1">
              <a:rPr lang="en-US" smtClean="0"/>
              <a:t>8/25/2026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9437741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701D-AA71-4F6F-B74A-236E07E9ABE4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598878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6D589-8B08-4190-9F3B-BA01ED2999CB}" type="datetime1">
              <a:rPr lang="en-US" smtClean="0"/>
              <a:t>8/25/2026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573572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A08923-D58E-4822-B554-6A1173FCE25D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0304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F50BF9E0-60DA-4D6D-8F14-825F152220D6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01498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3188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18A4B20A-718A-4149-B5D2-676E857EB828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55127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</p:sldLayoutIdLst>
  <p:hf sldNum="0" hdr="0" ftr="0" dt="0"/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2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450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Biometric Security in Banking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300758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ArcFace-Based Face Recognition for ATM Authentication</a:t>
            </a:r>
            <a:endParaRPr lang="en-US" sz="2950" dirty="0"/>
          </a:p>
        </p:txBody>
      </p:sp>
      <p:sp>
        <p:nvSpPr>
          <p:cNvPr id="4" name="Shape 2"/>
          <p:cNvSpPr/>
          <p:nvPr/>
        </p:nvSpPr>
        <p:spPr>
          <a:xfrm>
            <a:off x="661475" y="2103934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D6E5EF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2460030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Group Members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661475" y="3038773"/>
            <a:ext cx="5339820" cy="1089124"/>
          </a:xfrm>
          <a:prstGeom prst="roundRect">
            <a:avLst>
              <a:gd name="adj" fmla="val 2603"/>
            </a:avLst>
          </a:prstGeom>
          <a:solidFill>
            <a:srgbClr val="3F4652"/>
          </a:solidFill>
          <a:ln/>
        </p:spPr>
      </p:sp>
      <p:sp>
        <p:nvSpPr>
          <p:cNvPr id="7" name="Text 5"/>
          <p:cNvSpPr/>
          <p:nvPr/>
        </p:nvSpPr>
        <p:spPr>
          <a:xfrm>
            <a:off x="850482" y="3227784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Member 1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50482" y="3636466"/>
            <a:ext cx="49618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Md. Nadeem - 2511022250019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90301" y="3038773"/>
            <a:ext cx="5339919" cy="1089124"/>
          </a:xfrm>
          <a:prstGeom prst="roundRect">
            <a:avLst>
              <a:gd name="adj" fmla="val 2603"/>
            </a:avLst>
          </a:prstGeom>
          <a:solidFill>
            <a:srgbClr val="3F4652"/>
          </a:solidFill>
          <a:ln/>
        </p:spPr>
      </p:sp>
      <p:sp>
        <p:nvSpPr>
          <p:cNvPr id="10" name="Text 8"/>
          <p:cNvSpPr/>
          <p:nvPr/>
        </p:nvSpPr>
        <p:spPr>
          <a:xfrm>
            <a:off x="6379308" y="3227784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Member 2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379308" y="3636466"/>
            <a:ext cx="49619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Prasannashree B — 2511022250032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316909"/>
            <a:ext cx="5339820" cy="1089124"/>
          </a:xfrm>
          <a:prstGeom prst="roundRect">
            <a:avLst>
              <a:gd name="adj" fmla="val 2603"/>
            </a:avLst>
          </a:prstGeom>
          <a:solidFill>
            <a:srgbClr val="3F4652"/>
          </a:solidFill>
          <a:ln/>
        </p:spPr>
      </p:sp>
      <p:sp>
        <p:nvSpPr>
          <p:cNvPr id="13" name="Text 11"/>
          <p:cNvSpPr/>
          <p:nvPr/>
        </p:nvSpPr>
        <p:spPr>
          <a:xfrm>
            <a:off x="850482" y="4505920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Member 3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50482" y="4914602"/>
            <a:ext cx="49618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Ayush Kumar — 2511022250025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190301" y="4316909"/>
            <a:ext cx="5339919" cy="1089124"/>
          </a:xfrm>
          <a:prstGeom prst="roundRect">
            <a:avLst>
              <a:gd name="adj" fmla="val 2603"/>
            </a:avLst>
          </a:prstGeom>
          <a:solidFill>
            <a:srgbClr val="3F4652"/>
          </a:solidFill>
          <a:ln/>
        </p:spPr>
      </p:sp>
      <p:sp>
        <p:nvSpPr>
          <p:cNvPr id="16" name="Text 14"/>
          <p:cNvSpPr/>
          <p:nvPr/>
        </p:nvSpPr>
        <p:spPr>
          <a:xfrm>
            <a:off x="6379308" y="4505920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Member 4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6379308" y="4914602"/>
            <a:ext cx="49619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Anuvid Mishra — 2511022250036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61475" y="5618659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Master of Computer Applications · Semester III · Alliance University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Submitted To: Ms. Sanjivni Ma'am · Academic Year: 2025–26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8521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Problem Statement and Project Objective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292027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Traditional Authentication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61475" y="1563787"/>
            <a:ext cx="5894141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Vulnerable to card theft, PIN compromise, shoulder surfing, and credential attacks.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252014" y="1292027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Proposed Biometric Authentication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52014" y="1563787"/>
            <a:ext cx="5894141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Facial biometrics eliminate physical tokens and reduce attack surface.</a:t>
            </a:r>
            <a:endParaRPr lang="en-US" sz="9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87538"/>
            <a:ext cx="3622882" cy="4914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4305" y="2458740"/>
            <a:ext cx="337722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ATM Card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357" y="1887538"/>
            <a:ext cx="3622882" cy="4914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07187" y="2458740"/>
            <a:ext cx="337722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PIN Entry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7239" y="1887538"/>
            <a:ext cx="3622882" cy="49143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30069" y="2458740"/>
            <a:ext cx="337722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Access Granted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863354"/>
            <a:ext cx="3622882" cy="49143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84305" y="3434556"/>
            <a:ext cx="337722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Face Capture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357" y="2863354"/>
            <a:ext cx="3622882" cy="49143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407187" y="3434556"/>
            <a:ext cx="337722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Face Recognition</a:t>
            </a:r>
            <a:endParaRPr lang="en-US" sz="12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7239" y="2863354"/>
            <a:ext cx="3622882" cy="49143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030069" y="3434556"/>
            <a:ext cx="337722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Identity Verification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661475" y="3869134"/>
            <a:ext cx="1086874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Project Objective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661475" y="4180880"/>
            <a:ext cx="114783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 an ArcFace-based ATM authentication prototype using facial biometrics and deep learning.</a:t>
            </a:r>
            <a:endParaRPr lang="en-US" sz="950" dirty="0"/>
          </a:p>
        </p:txBody>
      </p:sp>
      <p:sp>
        <p:nvSpPr>
          <p:cNvPr id="21" name="Text 13"/>
          <p:cNvSpPr/>
          <p:nvPr/>
        </p:nvSpPr>
        <p:spPr>
          <a:xfrm>
            <a:off x="661475" y="4462760"/>
            <a:ext cx="1086874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Team Contribution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661475" y="4774505"/>
            <a:ext cx="3569702" cy="647601"/>
          </a:xfrm>
          <a:prstGeom prst="roundRect">
            <a:avLst>
              <a:gd name="adj" fmla="val 2846"/>
            </a:avLst>
          </a:prstGeom>
          <a:solidFill>
            <a:srgbClr val="3F4652"/>
          </a:solidFill>
          <a:ln/>
        </p:spPr>
      </p:sp>
      <p:sp>
        <p:nvSpPr>
          <p:cNvPr id="23" name="Text 15"/>
          <p:cNvSpPr/>
          <p:nvPr/>
        </p:nvSpPr>
        <p:spPr>
          <a:xfrm>
            <a:off x="784305" y="4897338"/>
            <a:ext cx="332404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Member 1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784305" y="5137150"/>
            <a:ext cx="3324043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 Architecture &amp; Project Design</a:t>
            </a:r>
            <a:endParaRPr lang="en-US" sz="950" dirty="0"/>
          </a:p>
        </p:txBody>
      </p:sp>
      <p:sp>
        <p:nvSpPr>
          <p:cNvPr id="25" name="Shape 17"/>
          <p:cNvSpPr/>
          <p:nvPr/>
        </p:nvSpPr>
        <p:spPr>
          <a:xfrm>
            <a:off x="4310947" y="4774505"/>
            <a:ext cx="3569702" cy="647601"/>
          </a:xfrm>
          <a:prstGeom prst="roundRect">
            <a:avLst>
              <a:gd name="adj" fmla="val 2846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6" name="Text 18"/>
          <p:cNvSpPr/>
          <p:nvPr/>
        </p:nvSpPr>
        <p:spPr>
          <a:xfrm>
            <a:off x="4433777" y="4897338"/>
            <a:ext cx="332404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Member 2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4433777" y="5137150"/>
            <a:ext cx="3324043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Face Detection &amp; Image Preprocessing</a:t>
            </a:r>
            <a:endParaRPr lang="en-US" sz="950" dirty="0"/>
          </a:p>
        </p:txBody>
      </p:sp>
      <p:sp>
        <p:nvSpPr>
          <p:cNvPr id="28" name="Shape 20"/>
          <p:cNvSpPr/>
          <p:nvPr/>
        </p:nvSpPr>
        <p:spPr>
          <a:xfrm>
            <a:off x="7960419" y="4774505"/>
            <a:ext cx="3569801" cy="647601"/>
          </a:xfrm>
          <a:prstGeom prst="roundRect">
            <a:avLst>
              <a:gd name="adj" fmla="val 2846"/>
            </a:avLst>
          </a:prstGeom>
          <a:solidFill>
            <a:srgbClr val="3F4652"/>
          </a:solidFill>
          <a:ln/>
        </p:spPr>
      </p:sp>
      <p:sp>
        <p:nvSpPr>
          <p:cNvPr id="29" name="Text 21"/>
          <p:cNvSpPr/>
          <p:nvPr/>
        </p:nvSpPr>
        <p:spPr>
          <a:xfrm>
            <a:off x="8083249" y="4897338"/>
            <a:ext cx="332414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Member 3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8083249" y="5137150"/>
            <a:ext cx="332414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ArcFace Embedding &amp; Face Matching</a:t>
            </a:r>
            <a:endParaRPr lang="en-US" sz="950" dirty="0"/>
          </a:p>
        </p:txBody>
      </p:sp>
      <p:sp>
        <p:nvSpPr>
          <p:cNvPr id="31" name="Shape 23"/>
          <p:cNvSpPr/>
          <p:nvPr/>
        </p:nvSpPr>
        <p:spPr>
          <a:xfrm>
            <a:off x="661475" y="5501878"/>
            <a:ext cx="10868745" cy="647601"/>
          </a:xfrm>
          <a:prstGeom prst="roundRect">
            <a:avLst>
              <a:gd name="adj" fmla="val 2846"/>
            </a:avLst>
          </a:prstGeom>
          <a:solidFill>
            <a:srgbClr val="3F4652"/>
          </a:solidFill>
          <a:ln/>
        </p:spPr>
      </p:sp>
      <p:sp>
        <p:nvSpPr>
          <p:cNvPr id="32" name="Text 24"/>
          <p:cNvSpPr/>
          <p:nvPr/>
        </p:nvSpPr>
        <p:spPr>
          <a:xfrm>
            <a:off x="784305" y="5624711"/>
            <a:ext cx="1062308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Member 4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784305" y="5864523"/>
            <a:ext cx="10623086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Flask Interface, Testing &amp; Documentation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1534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Proposed Biometric ATM Authentication Architecture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7615" y="1280220"/>
            <a:ext cx="5916464" cy="27077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67844" y="3237998"/>
            <a:ext cx="1110748" cy="427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ArcFace Embed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267998" y="3237998"/>
            <a:ext cx="1110747" cy="427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875760" y="3237998"/>
            <a:ext cx="1110747" cy="427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Face Detection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453090" y="3344986"/>
            <a:ext cx="1110747" cy="213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Live Capture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61475" y="4092178"/>
            <a:ext cx="1147833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pipeline flows from live capture through detection, preprocessing, and ArcFace embedding to an authentication decision.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61475" y="4411067"/>
            <a:ext cx="1086874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Authentication Outcomes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61475" y="4756646"/>
            <a:ext cx="10868745" cy="1419820"/>
          </a:xfrm>
          <a:prstGeom prst="roundRect">
            <a:avLst>
              <a:gd name="adj" fmla="val 1398"/>
            </a:avLst>
          </a:prstGeom>
          <a:solidFill>
            <a:srgbClr val="3F4652"/>
          </a:solidFill>
          <a:ln/>
        </p:spPr>
      </p:sp>
      <p:sp>
        <p:nvSpPr>
          <p:cNvPr id="11" name="Shape 8"/>
          <p:cNvSpPr/>
          <p:nvPr/>
        </p:nvSpPr>
        <p:spPr>
          <a:xfrm>
            <a:off x="661475" y="4756646"/>
            <a:ext cx="5434373" cy="706735"/>
          </a:xfrm>
          <a:custGeom>
            <a:avLst/>
            <a:gdLst/>
            <a:ahLst/>
            <a:cxnLst/>
            <a:rect l="l" t="t" r="r" b="b"/>
            <a:pathLst>
              <a:path w="5434373" h="706735">
                <a:moveTo>
                  <a:pt x="16539" y="0"/>
                </a:moveTo>
                <a:lnTo>
                  <a:pt x="5434373" y="0"/>
                </a:lnTo>
                <a:lnTo>
                  <a:pt x="5434373" y="706735"/>
                </a:lnTo>
                <a:lnTo>
                  <a:pt x="0" y="706735"/>
                </a:lnTo>
                <a:lnTo>
                  <a:pt x="0" y="16540"/>
                </a:lnTo>
                <a:arcTo wR="16539" hR="16540" stAng="10800000" swAng="5400000"/>
                <a:close/>
              </a:path>
            </a:pathLst>
          </a:custGeom>
          <a:solidFill>
            <a:srgbClr val="3F4652"/>
          </a:solidFill>
          <a:ln/>
        </p:spPr>
      </p:sp>
      <p:sp>
        <p:nvSpPr>
          <p:cNvPr id="12" name="Text 9"/>
          <p:cNvSpPr/>
          <p:nvPr/>
        </p:nvSpPr>
        <p:spPr>
          <a:xfrm>
            <a:off x="793730" y="4888905"/>
            <a:ext cx="516986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✓ Match Verified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93730" y="5151140"/>
            <a:ext cx="516986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Similarity ≥ 0.60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095848" y="4756646"/>
            <a:ext cx="5434373" cy="706735"/>
          </a:xfrm>
          <a:custGeom>
            <a:avLst/>
            <a:gdLst/>
            <a:ahLst/>
            <a:cxnLst/>
            <a:rect l="l" t="t" r="r" b="b"/>
            <a:pathLst>
              <a:path w="5434373" h="706735">
                <a:moveTo>
                  <a:pt x="0" y="0"/>
                </a:moveTo>
                <a:lnTo>
                  <a:pt x="5417834" y="0"/>
                </a:lnTo>
                <a:arcTo wR="16539" hR="16540" stAng="16200000" swAng="5400000"/>
                <a:lnTo>
                  <a:pt x="5434373" y="706735"/>
                </a:lnTo>
                <a:lnTo>
                  <a:pt x="0" y="706735"/>
                </a:lnTo>
                <a:lnTo>
                  <a:pt x="0" y="0"/>
                </a:lnTo>
                <a:close/>
              </a:path>
            </a:pathLst>
          </a:custGeom>
          <a:solidFill>
            <a:srgbClr val="3F4652"/>
          </a:solidFill>
          <a:ln/>
        </p:spPr>
      </p:sp>
      <p:sp>
        <p:nvSpPr>
          <p:cNvPr id="15" name="Shape 12"/>
          <p:cNvSpPr/>
          <p:nvPr/>
        </p:nvSpPr>
        <p:spPr>
          <a:xfrm>
            <a:off x="6095848" y="4756646"/>
            <a:ext cx="19050" cy="706735"/>
          </a:xfrm>
          <a:prstGeom prst="roundRect">
            <a:avLst>
              <a:gd name="adj" fmla="val 49999"/>
            </a:avLst>
          </a:prstGeom>
          <a:solidFill>
            <a:srgbClr val="585F6B"/>
          </a:solidFill>
          <a:ln/>
        </p:spPr>
      </p:sp>
      <p:sp>
        <p:nvSpPr>
          <p:cNvPr id="16" name="Text 13"/>
          <p:cNvSpPr/>
          <p:nvPr/>
        </p:nvSpPr>
        <p:spPr>
          <a:xfrm>
            <a:off x="6228103" y="4888905"/>
            <a:ext cx="516986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✗ Not Authenticated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228103" y="5151140"/>
            <a:ext cx="516986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Similarity below threshold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61475" y="5463381"/>
            <a:ext cx="5434373" cy="713085"/>
          </a:xfrm>
          <a:custGeom>
            <a:avLst/>
            <a:gdLst/>
            <a:ahLst/>
            <a:cxnLst/>
            <a:rect l="l" t="t" r="r" b="b"/>
            <a:pathLst>
              <a:path w="5434373" h="713085">
                <a:moveTo>
                  <a:pt x="0" y="0"/>
                </a:moveTo>
                <a:lnTo>
                  <a:pt x="5434373" y="0"/>
                </a:lnTo>
                <a:lnTo>
                  <a:pt x="5434373" y="713085"/>
                </a:lnTo>
                <a:lnTo>
                  <a:pt x="16539" y="713085"/>
                </a:lnTo>
                <a:arcTo wR="16539" hR="16540" stAng="5400000" swAng="5400000"/>
                <a:lnTo>
                  <a:pt x="0" y="0"/>
                </a:lnTo>
                <a:close/>
              </a:path>
            </a:pathLst>
          </a:custGeom>
          <a:solidFill>
            <a:srgbClr val="3F4652"/>
          </a:solidFill>
          <a:ln/>
        </p:spPr>
      </p:sp>
      <p:sp>
        <p:nvSpPr>
          <p:cNvPr id="19" name="Shape 16"/>
          <p:cNvSpPr/>
          <p:nvPr/>
        </p:nvSpPr>
        <p:spPr>
          <a:xfrm>
            <a:off x="661475" y="5463381"/>
            <a:ext cx="5434373" cy="19050"/>
          </a:xfrm>
          <a:prstGeom prst="roundRect">
            <a:avLst>
              <a:gd name="adj" fmla="val 49999"/>
            </a:avLst>
          </a:prstGeom>
          <a:solidFill>
            <a:srgbClr val="585F6B"/>
          </a:solidFill>
          <a:ln/>
        </p:spPr>
      </p:sp>
      <p:sp>
        <p:nvSpPr>
          <p:cNvPr id="20" name="Text 17"/>
          <p:cNvSpPr/>
          <p:nvPr/>
        </p:nvSpPr>
        <p:spPr>
          <a:xfrm>
            <a:off x="793730" y="5595640"/>
            <a:ext cx="5169862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⚠</a:t>
            </a:r>
            <a:r>
              <a:rPr lang="en-US" sz="1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No Face Detected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93730" y="5864225"/>
            <a:ext cx="516986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Authentication halted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095848" y="5463381"/>
            <a:ext cx="5434373" cy="713085"/>
          </a:xfrm>
          <a:custGeom>
            <a:avLst/>
            <a:gdLst/>
            <a:ahLst/>
            <a:cxnLst/>
            <a:rect l="l" t="t" r="r" b="b"/>
            <a:pathLst>
              <a:path w="5434373" h="713085">
                <a:moveTo>
                  <a:pt x="0" y="0"/>
                </a:moveTo>
                <a:lnTo>
                  <a:pt x="5434373" y="0"/>
                </a:lnTo>
                <a:lnTo>
                  <a:pt x="5434373" y="696546"/>
                </a:lnTo>
                <a:arcTo wR="16539" hR="16540" stAng="0" swAng="5400000"/>
                <a:lnTo>
                  <a:pt x="0" y="713085"/>
                </a:lnTo>
                <a:lnTo>
                  <a:pt x="0" y="0"/>
                </a:lnTo>
                <a:close/>
              </a:path>
            </a:pathLst>
          </a:custGeom>
          <a:solidFill>
            <a:srgbClr val="3F4652"/>
          </a:solidFill>
          <a:ln/>
        </p:spPr>
      </p:sp>
      <p:sp>
        <p:nvSpPr>
          <p:cNvPr id="23" name="Shape 20"/>
          <p:cNvSpPr/>
          <p:nvPr/>
        </p:nvSpPr>
        <p:spPr>
          <a:xfrm>
            <a:off x="6095848" y="5463381"/>
            <a:ext cx="19050" cy="713085"/>
          </a:xfrm>
          <a:prstGeom prst="roundRect">
            <a:avLst>
              <a:gd name="adj" fmla="val 49999"/>
            </a:avLst>
          </a:prstGeom>
          <a:solidFill>
            <a:srgbClr val="585F6B"/>
          </a:solidFill>
          <a:ln/>
        </p:spPr>
      </p:sp>
      <p:sp>
        <p:nvSpPr>
          <p:cNvPr id="24" name="Shape 21"/>
          <p:cNvSpPr/>
          <p:nvPr/>
        </p:nvSpPr>
        <p:spPr>
          <a:xfrm>
            <a:off x="6095848" y="5463381"/>
            <a:ext cx="5434373" cy="19050"/>
          </a:xfrm>
          <a:prstGeom prst="roundRect">
            <a:avLst>
              <a:gd name="adj" fmla="val 49999"/>
            </a:avLst>
          </a:prstGeom>
          <a:solidFill>
            <a:srgbClr val="585F6B"/>
          </a:solidFill>
          <a:ln/>
        </p:spPr>
      </p:sp>
      <p:sp>
        <p:nvSpPr>
          <p:cNvPr id="25" name="Text 22"/>
          <p:cNvSpPr/>
          <p:nvPr/>
        </p:nvSpPr>
        <p:spPr>
          <a:xfrm>
            <a:off x="6228103" y="5595640"/>
            <a:ext cx="5169862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⚠</a:t>
            </a:r>
            <a:r>
              <a:rPr lang="en-US" sz="1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Multiple Faces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228103" y="5864225"/>
            <a:ext cx="516986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Authentication rejected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96032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CNN-Based Face Detection and ArcFace Recognition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997" y="2183805"/>
            <a:ext cx="5548372" cy="31441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72226" y="1570831"/>
            <a:ext cx="35642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Face Detection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7972226" y="1928019"/>
            <a:ext cx="3564245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MTCNN</a:t>
            </a: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(Multi-task Cascaded CNN) serves as the primary detector, locating faces with high accuracy. </a:t>
            </a:r>
            <a:r>
              <a:rPr lang="en-US" sz="11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OpenCV</a:t>
            </a: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acts as a fallback for robustness.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7972226" y="2702024"/>
            <a:ext cx="35642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ArcFace Recognition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972226" y="3059212"/>
            <a:ext cx="3564245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ArcFace converts the detected face into a </a:t>
            </a:r>
            <a:r>
              <a:rPr lang="en-US" sz="11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facial embedding</a:t>
            </a: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 compact numerical representation of identity.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972226" y="3833217"/>
            <a:ext cx="35642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Deep Metric Learning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972226" y="4190405"/>
            <a:ext cx="3564245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Embeddings of the </a:t>
            </a:r>
            <a:r>
              <a:rPr lang="en-US" sz="11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same person</a:t>
            </a: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cluster closely; embeddings of </a:t>
            </a:r>
            <a:r>
              <a:rPr lang="en-US" sz="11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different persons</a:t>
            </a: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are pushed apart in the feature space.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972226" y="4979491"/>
            <a:ext cx="3564245" cy="946348"/>
          </a:xfrm>
          <a:prstGeom prst="roundRect">
            <a:avLst>
              <a:gd name="adj" fmla="val 2397"/>
            </a:avLst>
          </a:prstGeom>
          <a:solidFill>
            <a:srgbClr val="0D3E7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3431" y="5164634"/>
            <a:ext cx="189007" cy="15120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463644" y="5126137"/>
            <a:ext cx="2921621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FaceNet and VGGFace2 are important research concepts but are not directly implemented in this prototype.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22759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Face Data, Preprocessing and Embedding Generation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79663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Reference Enrollment Pipeline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958405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3254276"/>
            <a:ext cx="3496877" cy="25400"/>
          </a:xfrm>
          <a:prstGeom prst="rect">
            <a:avLst/>
          </a:prstGeom>
          <a:solidFill>
            <a:srgbClr val="599CE8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3399532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Reference Face Image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61475" y="3808214"/>
            <a:ext cx="349687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Account holder's registered photo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347359" y="2958405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47359" y="3254276"/>
            <a:ext cx="3496877" cy="25400"/>
          </a:xfrm>
          <a:prstGeom prst="rect">
            <a:avLst/>
          </a:prstGeom>
          <a:solidFill>
            <a:srgbClr val="599CE8"/>
          </a:solidFill>
          <a:ln/>
        </p:spPr>
      </p:sp>
      <p:sp>
        <p:nvSpPr>
          <p:cNvPr id="10" name="Text 8"/>
          <p:cNvSpPr/>
          <p:nvPr/>
        </p:nvSpPr>
        <p:spPr>
          <a:xfrm>
            <a:off x="4347359" y="3399532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Face Detection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4347359" y="3808214"/>
            <a:ext cx="349687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MTCNN primary, OpenCV fallback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033244" y="2958405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033244" y="3254276"/>
            <a:ext cx="3496877" cy="25400"/>
          </a:xfrm>
          <a:prstGeom prst="rect">
            <a:avLst/>
          </a:prstGeom>
          <a:solidFill>
            <a:srgbClr val="599CE8"/>
          </a:solidFill>
          <a:ln/>
        </p:spPr>
      </p:sp>
      <p:sp>
        <p:nvSpPr>
          <p:cNvPr id="14" name="Text 12"/>
          <p:cNvSpPr/>
          <p:nvPr/>
        </p:nvSpPr>
        <p:spPr>
          <a:xfrm>
            <a:off x="8033244" y="3399532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Image Preprocessing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8033244" y="3808214"/>
            <a:ext cx="349687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Quality enhancement pipeline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61475" y="4441329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61475" y="4718248"/>
            <a:ext cx="5339820" cy="25400"/>
          </a:xfrm>
          <a:prstGeom prst="rect">
            <a:avLst/>
          </a:prstGeom>
          <a:solidFill>
            <a:srgbClr val="599CE8"/>
          </a:solidFill>
          <a:ln/>
        </p:spPr>
      </p:sp>
      <p:sp>
        <p:nvSpPr>
          <p:cNvPr id="18" name="Text 16"/>
          <p:cNvSpPr/>
          <p:nvPr/>
        </p:nvSpPr>
        <p:spPr>
          <a:xfrm>
            <a:off x="661475" y="4882455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ArcFace Model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661475" y="5291137"/>
            <a:ext cx="53398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 feature extraction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190301" y="4441329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05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190301" y="4718248"/>
            <a:ext cx="5339820" cy="25400"/>
          </a:xfrm>
          <a:prstGeom prst="rect">
            <a:avLst/>
          </a:prstGeom>
          <a:solidFill>
            <a:srgbClr val="599CE8"/>
          </a:solidFill>
          <a:ln/>
        </p:spPr>
      </p:sp>
      <p:sp>
        <p:nvSpPr>
          <p:cNvPr id="22" name="Text 20"/>
          <p:cNvSpPr/>
          <p:nvPr/>
        </p:nvSpPr>
        <p:spPr>
          <a:xfrm>
            <a:off x="6190301" y="4882455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Reference Embedding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6190301" y="5291137"/>
            <a:ext cx="53398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Stored securely for verification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8006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Image Preprocessing Techniques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61475" y="1414165"/>
            <a:ext cx="1086874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comprehensive overview of the preprocessing techniques applied to enhance face image quality before ArcFace embedding generation.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210693"/>
            <a:ext cx="2579821" cy="17046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4502" y="2422128"/>
            <a:ext cx="2055364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RGB Conversion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74502" y="2822674"/>
            <a:ext cx="20553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Standardizes colour space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4449" y="2210693"/>
            <a:ext cx="2579821" cy="170467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737477" y="2422128"/>
            <a:ext cx="2055364" cy="58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Low-Light Detection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3737477" y="3113385"/>
            <a:ext cx="20553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Identifies poor illumination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7424" y="2210693"/>
            <a:ext cx="2579821" cy="170467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500451" y="2422128"/>
            <a:ext cx="2055364" cy="58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CLAHE Enhancement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6500451" y="3113385"/>
            <a:ext cx="20553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Improves local contrast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50399" y="2210693"/>
            <a:ext cx="2579821" cy="170467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263426" y="2422128"/>
            <a:ext cx="2055364" cy="58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Gamma Correction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9263426" y="3113385"/>
            <a:ext cx="20553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Brightness normalisation</a:t>
            </a:r>
            <a:endParaRPr lang="en-US" sz="14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098528"/>
            <a:ext cx="2579821" cy="170011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74502" y="4309963"/>
            <a:ext cx="2055364" cy="872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Face Size &amp; Alignment Validation</a:t>
            </a:r>
            <a:endParaRPr lang="en-US" sz="1800" dirty="0"/>
          </a:p>
        </p:txBody>
      </p:sp>
      <p:sp>
        <p:nvSpPr>
          <p:cNvPr id="18" name="Text 11"/>
          <p:cNvSpPr/>
          <p:nvPr/>
        </p:nvSpPr>
        <p:spPr>
          <a:xfrm>
            <a:off x="974502" y="5291931"/>
            <a:ext cx="20553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Ensures proper framing</a:t>
            </a:r>
            <a:endParaRPr lang="en-US" sz="1450" dirty="0"/>
          </a:p>
        </p:txBody>
      </p:sp>
      <p:sp>
        <p:nvSpPr>
          <p:cNvPr id="19" name="Text 12"/>
          <p:cNvSpPr/>
          <p:nvPr/>
        </p:nvSpPr>
        <p:spPr>
          <a:xfrm>
            <a:off x="661475" y="6004620"/>
            <a:ext cx="114783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techniques ensure optimal image quality for accurate facial feature extraction and embedding generation.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0030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Real-Time Face Verification and Matching Strategy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9419" y="1442045"/>
            <a:ext cx="5207663" cy="2951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57244" y="1431528"/>
            <a:ext cx="35792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Verification Pipeline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7957244" y="1772543"/>
            <a:ext cx="318881" cy="318889"/>
          </a:xfrm>
          <a:prstGeom prst="roundRect">
            <a:avLst>
              <a:gd name="adj" fmla="val 6669"/>
            </a:avLst>
          </a:prstGeom>
          <a:solidFill>
            <a:srgbClr val="3F4652"/>
          </a:solidFill>
          <a:ln/>
        </p:spPr>
      </p:sp>
      <p:sp>
        <p:nvSpPr>
          <p:cNvPr id="6" name="Text 3"/>
          <p:cNvSpPr/>
          <p:nvPr/>
        </p:nvSpPr>
        <p:spPr>
          <a:xfrm>
            <a:off x="8010374" y="1799084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382386" y="1821259"/>
            <a:ext cx="315408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Live frame captured via ATM camera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957244" y="2304058"/>
            <a:ext cx="318881" cy="318889"/>
          </a:xfrm>
          <a:prstGeom prst="roundRect">
            <a:avLst>
              <a:gd name="adj" fmla="val 6669"/>
            </a:avLst>
          </a:prstGeom>
          <a:solidFill>
            <a:srgbClr val="3F4652"/>
          </a:solidFill>
          <a:ln/>
        </p:spPr>
      </p:sp>
      <p:sp>
        <p:nvSpPr>
          <p:cNvPr id="9" name="Text 6"/>
          <p:cNvSpPr/>
          <p:nvPr/>
        </p:nvSpPr>
        <p:spPr>
          <a:xfrm>
            <a:off x="8010374" y="2330599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382386" y="2352774"/>
            <a:ext cx="315408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Face detected and preprocessed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957244" y="2835573"/>
            <a:ext cx="318881" cy="318889"/>
          </a:xfrm>
          <a:prstGeom prst="roundRect">
            <a:avLst>
              <a:gd name="adj" fmla="val 6669"/>
            </a:avLst>
          </a:prstGeom>
          <a:solidFill>
            <a:srgbClr val="3F4652"/>
          </a:solidFill>
          <a:ln/>
        </p:spPr>
      </p:sp>
      <p:sp>
        <p:nvSpPr>
          <p:cNvPr id="12" name="Text 9"/>
          <p:cNvSpPr/>
          <p:nvPr/>
        </p:nvSpPr>
        <p:spPr>
          <a:xfrm>
            <a:off x="8010374" y="2862114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382386" y="2884289"/>
            <a:ext cx="315408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ArcFace generates live embedding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957244" y="3367088"/>
            <a:ext cx="318881" cy="318889"/>
          </a:xfrm>
          <a:prstGeom prst="roundRect">
            <a:avLst>
              <a:gd name="adj" fmla="val 6669"/>
            </a:avLst>
          </a:prstGeom>
          <a:solidFill>
            <a:srgbClr val="3F4652"/>
          </a:solidFill>
          <a:ln/>
        </p:spPr>
      </p:sp>
      <p:sp>
        <p:nvSpPr>
          <p:cNvPr id="15" name="Text 12"/>
          <p:cNvSpPr/>
          <p:nvPr/>
        </p:nvSpPr>
        <p:spPr>
          <a:xfrm>
            <a:off x="8010374" y="3393629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8382386" y="3415804"/>
            <a:ext cx="3154085" cy="442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Cosine similarity computed against reference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7957244" y="4071342"/>
            <a:ext cx="318881" cy="318889"/>
          </a:xfrm>
          <a:prstGeom prst="roundRect">
            <a:avLst>
              <a:gd name="adj" fmla="val 6669"/>
            </a:avLst>
          </a:prstGeom>
          <a:solidFill>
            <a:srgbClr val="3F4652"/>
          </a:solidFill>
          <a:ln/>
        </p:spPr>
      </p:sp>
      <p:sp>
        <p:nvSpPr>
          <p:cNvPr id="18" name="Text 15"/>
          <p:cNvSpPr/>
          <p:nvPr/>
        </p:nvSpPr>
        <p:spPr>
          <a:xfrm>
            <a:off x="8010374" y="4097883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8382386" y="4120059"/>
            <a:ext cx="315408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Authentication decision rendered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61475" y="4672112"/>
            <a:ext cx="108687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Decision Logic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661475" y="5053013"/>
            <a:ext cx="10868745" cy="766961"/>
          </a:xfrm>
          <a:prstGeom prst="roundRect">
            <a:avLst>
              <a:gd name="adj" fmla="val 2773"/>
            </a:avLst>
          </a:prstGeom>
          <a:solidFill>
            <a:srgbClr val="3F4652"/>
          </a:solidFill>
          <a:ln/>
        </p:spPr>
      </p:sp>
      <p:sp>
        <p:nvSpPr>
          <p:cNvPr id="22" name="Shape 19"/>
          <p:cNvSpPr/>
          <p:nvPr/>
        </p:nvSpPr>
        <p:spPr>
          <a:xfrm>
            <a:off x="661475" y="5053013"/>
            <a:ext cx="5434373" cy="766961"/>
          </a:xfrm>
          <a:custGeom>
            <a:avLst/>
            <a:gdLst/>
            <a:ahLst/>
            <a:cxnLst/>
            <a:rect l="l" t="t" r="r" b="b"/>
            <a:pathLst>
              <a:path w="5434373" h="766961">
                <a:moveTo>
                  <a:pt x="17721" y="0"/>
                </a:moveTo>
                <a:lnTo>
                  <a:pt x="5434373" y="0"/>
                </a:lnTo>
                <a:lnTo>
                  <a:pt x="5434373" y="766961"/>
                </a:lnTo>
                <a:lnTo>
                  <a:pt x="17721" y="766961"/>
                </a:lnTo>
                <a:arcTo wR="17721" hR="17721" stAng="5400000" swAng="5400000"/>
                <a:lnTo>
                  <a:pt x="0" y="17721"/>
                </a:lnTo>
                <a:arcTo wR="17721" hR="17721" stAng="10800000" swAng="5400000"/>
                <a:close/>
              </a:path>
            </a:pathLst>
          </a:custGeom>
          <a:solidFill>
            <a:srgbClr val="3F4652"/>
          </a:solidFill>
          <a:ln/>
        </p:spPr>
      </p:sp>
      <p:sp>
        <p:nvSpPr>
          <p:cNvPr id="23" name="Text 20"/>
          <p:cNvSpPr/>
          <p:nvPr/>
        </p:nvSpPr>
        <p:spPr>
          <a:xfrm>
            <a:off x="803156" y="5194697"/>
            <a:ext cx="515101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Similarity ≥ 0.60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803156" y="5479852"/>
            <a:ext cx="515101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</a:t>
            </a:r>
            <a:r>
              <a:rPr lang="en-US" sz="11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MATCH VERIFIED</a:t>
            </a: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Access granted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095848" y="5053013"/>
            <a:ext cx="5434373" cy="766961"/>
          </a:xfrm>
          <a:custGeom>
            <a:avLst/>
            <a:gdLst/>
            <a:ahLst/>
            <a:cxnLst/>
            <a:rect l="l" t="t" r="r" b="b"/>
            <a:pathLst>
              <a:path w="5434373" h="766961">
                <a:moveTo>
                  <a:pt x="0" y="0"/>
                </a:moveTo>
                <a:lnTo>
                  <a:pt x="5416652" y="0"/>
                </a:lnTo>
                <a:arcTo wR="17721" hR="17721" stAng="16200000" swAng="5400000"/>
                <a:lnTo>
                  <a:pt x="5434373" y="749240"/>
                </a:lnTo>
                <a:arcTo wR="17721" hR="17721" stAng="0" swAng="5400000"/>
                <a:lnTo>
                  <a:pt x="0" y="766961"/>
                </a:lnTo>
                <a:lnTo>
                  <a:pt x="0" y="0"/>
                </a:lnTo>
                <a:close/>
              </a:path>
            </a:pathLst>
          </a:custGeom>
          <a:solidFill>
            <a:srgbClr val="3F4652"/>
          </a:solidFill>
          <a:ln/>
        </p:spPr>
      </p:sp>
      <p:sp>
        <p:nvSpPr>
          <p:cNvPr id="26" name="Shape 23"/>
          <p:cNvSpPr/>
          <p:nvPr/>
        </p:nvSpPr>
        <p:spPr>
          <a:xfrm>
            <a:off x="6095848" y="5053013"/>
            <a:ext cx="19050" cy="766961"/>
          </a:xfrm>
          <a:prstGeom prst="roundRect">
            <a:avLst>
              <a:gd name="adj" fmla="val 49999"/>
            </a:avLst>
          </a:prstGeom>
          <a:solidFill>
            <a:srgbClr val="585F6B"/>
          </a:solidFill>
          <a:ln/>
        </p:spPr>
      </p:sp>
      <p:sp>
        <p:nvSpPr>
          <p:cNvPr id="27" name="Text 24"/>
          <p:cNvSpPr/>
          <p:nvPr/>
        </p:nvSpPr>
        <p:spPr>
          <a:xfrm>
            <a:off x="6237528" y="5194697"/>
            <a:ext cx="515101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Similarity &lt; 0.60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6237528" y="5479852"/>
            <a:ext cx="515101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✗ </a:t>
            </a:r>
            <a:r>
              <a:rPr lang="en-US" sz="11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NOT AUTHENTICATED</a:t>
            </a: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Access denied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61475" y="5939532"/>
            <a:ext cx="1147833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higher cosine similarity score indicates a stronger match between the live face and the registered reference.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4717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ATM Security and Validation Features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432520"/>
            <a:ext cx="340213" cy="3402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964035"/>
            <a:ext cx="533872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No Face Detection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61475" y="2321520"/>
            <a:ext cx="5338728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Authentication does not proceed when no valid face is detected in the frame.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1492" y="1432520"/>
            <a:ext cx="340213" cy="34022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1492" y="1964035"/>
            <a:ext cx="533872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Multiple Face Detection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6191492" y="2321520"/>
            <a:ext cx="5338728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Authentication is rejected when more than one face is detected simultaneously.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144838"/>
            <a:ext cx="340213" cy="34022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3676352"/>
            <a:ext cx="533872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Face Alignment Validation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661475" y="4033838"/>
            <a:ext cx="5338728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face must be properly positioned and aligned within the camera frame.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1492" y="3144838"/>
            <a:ext cx="340213" cy="34022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91492" y="3676352"/>
            <a:ext cx="533872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Low-Light Detection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6191492" y="4033838"/>
            <a:ext cx="5338728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Poor illumination is detected and corrected via CLAHE and gamma correction.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857155"/>
            <a:ext cx="340213" cy="34022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61475" y="5388670"/>
            <a:ext cx="533872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Unknown User Detection</a:t>
            </a:r>
            <a:endParaRPr lang="en-US" sz="1650" dirty="0"/>
          </a:p>
        </p:txBody>
      </p:sp>
      <p:sp>
        <p:nvSpPr>
          <p:cNvPr id="17" name="Text 10"/>
          <p:cNvSpPr/>
          <p:nvPr/>
        </p:nvSpPr>
        <p:spPr>
          <a:xfrm>
            <a:off x="661475" y="5746155"/>
            <a:ext cx="5338728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Users whose similarity score falls below 0.60 are rejected automatically.</a:t>
            </a:r>
            <a:endParaRPr lang="en-US" sz="13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1492" y="4857155"/>
            <a:ext cx="340213" cy="340221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191492" y="5388670"/>
            <a:ext cx="533872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Other Registered User Detection</a:t>
            </a:r>
            <a:endParaRPr lang="en-US" sz="1650" dirty="0"/>
          </a:p>
        </p:txBody>
      </p:sp>
      <p:sp>
        <p:nvSpPr>
          <p:cNvPr id="20" name="Text 12"/>
          <p:cNvSpPr/>
          <p:nvPr/>
        </p:nvSpPr>
        <p:spPr>
          <a:xfrm>
            <a:off x="6191492" y="5746155"/>
            <a:ext cx="5338728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 identifies when a live face matches a different registered reference image.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7841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Experimental Results and ATM Prototype Demonstration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188641"/>
            <a:ext cx="108687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Test Case Outcomes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1606252"/>
            <a:ext cx="10868745" cy="2297113"/>
          </a:xfrm>
          <a:prstGeom prst="roundRect">
            <a:avLst>
              <a:gd name="adj" fmla="val 987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1475" y="1991221"/>
            <a:ext cx="10868745" cy="945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2373015"/>
            <a:ext cx="10868745" cy="945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2754809"/>
            <a:ext cx="10868745" cy="945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3136602"/>
            <a:ext cx="10868745" cy="945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3518396"/>
            <a:ext cx="10868745" cy="945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095848" y="1606252"/>
            <a:ext cx="9451" cy="229711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19030" y="1691481"/>
            <a:ext cx="573202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Test Case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250228" y="1691481"/>
            <a:ext cx="573202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System Response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19030" y="2073275"/>
            <a:ext cx="573202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Correct Registered User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50228" y="2073275"/>
            <a:ext cx="573202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MATCH VERIFIED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19030" y="2455069"/>
            <a:ext cx="573202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Unknown User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50228" y="2455069"/>
            <a:ext cx="573202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✗ USER NOT AUTHENTICATED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19030" y="2836863"/>
            <a:ext cx="573202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Face Detected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50228" y="2836863"/>
            <a:ext cx="573202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⚠</a:t>
            </a: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NO FACE DETECTED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19030" y="3218656"/>
            <a:ext cx="573202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Multiple Faces Present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50228" y="3218656"/>
            <a:ext cx="573202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⚠</a:t>
            </a: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MULTIPLE FACES DETECTED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19030" y="3600450"/>
            <a:ext cx="573202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Low-Light Environment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250228" y="3600450"/>
            <a:ext cx="573202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Image Enhancement Applied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0090"/>
            <a:ext cx="10868745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Current Limitations and Future Security Enhancements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2006005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Current Limitations</a:t>
            </a:r>
            <a:endParaRPr lang="en-US" sz="1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443956"/>
            <a:ext cx="2536861" cy="11539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26779" y="2633067"/>
            <a:ext cx="2082450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Liveness detection and anti-spoofing not implemented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1426" y="2443956"/>
            <a:ext cx="2536960" cy="11539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16731" y="2633067"/>
            <a:ext cx="2082549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Blink detection and challenge-response not implemented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750965"/>
            <a:ext cx="2536861" cy="8953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26779" y="3940076"/>
            <a:ext cx="208245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FAR and FRR not yet experimentally calculated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1426" y="3750965"/>
            <a:ext cx="2536960" cy="8953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616731" y="3940076"/>
            <a:ext cx="208254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Threshold of 0.60 requires further optimisation</a:t>
            </a:r>
            <a:endParaRPr lang="en-US" sz="13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799409"/>
            <a:ext cx="2536861" cy="89535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26779" y="4988520"/>
            <a:ext cx="208245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Large-scale datasets (LFW, VGGFace2) not used</a:t>
            </a:r>
            <a:endParaRPr lang="en-US" sz="13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1426" y="4799409"/>
            <a:ext cx="2536960" cy="89535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3616731" y="4988520"/>
            <a:ext cx="208254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Academic prototype — not for production deployment</a:t>
            </a:r>
            <a:endParaRPr lang="en-US" sz="1300" dirty="0"/>
          </a:p>
        </p:txBody>
      </p:sp>
      <p:sp>
        <p:nvSpPr>
          <p:cNvPr id="16" name="Text 8"/>
          <p:cNvSpPr/>
          <p:nvPr/>
        </p:nvSpPr>
        <p:spPr>
          <a:xfrm>
            <a:off x="6309659" y="2006005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Future Enhancements</a:t>
            </a:r>
            <a:endParaRPr lang="en-US" sz="16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9659" y="2443956"/>
            <a:ext cx="2536861" cy="1153914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6574963" y="2633067"/>
            <a:ext cx="208245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Liveness verification and blink detection</a:t>
            </a:r>
            <a:endParaRPr lang="en-US" sz="130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9610" y="2443956"/>
            <a:ext cx="2536960" cy="1153914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9264914" y="2633067"/>
            <a:ext cx="2082549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Head movement and challenge-response authentication</a:t>
            </a:r>
            <a:endParaRPr lang="en-US" sz="130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659" y="3750965"/>
            <a:ext cx="2536861" cy="89535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6574963" y="3940076"/>
            <a:ext cx="208245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 learning-based anti-spoofing module</a:t>
            </a:r>
            <a:endParaRPr lang="en-US" sz="1300" dirty="0"/>
          </a:p>
        </p:txBody>
      </p:sp>
      <p:pic>
        <p:nvPicPr>
          <p:cNvPr id="23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99610" y="3750965"/>
            <a:ext cx="2536960" cy="895350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9264914" y="3940076"/>
            <a:ext cx="208254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FAR and FRR performance evaluation</a:t>
            </a:r>
            <a:endParaRPr lang="en-US" sz="1300" dirty="0"/>
          </a:p>
        </p:txBody>
      </p:sp>
      <p:pic>
        <p:nvPicPr>
          <p:cNvPr id="25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659" y="4799409"/>
            <a:ext cx="2536861" cy="89535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6574963" y="4988520"/>
            <a:ext cx="208245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Encrypted storage of biometric embeddings</a:t>
            </a:r>
            <a:endParaRPr lang="en-US" sz="1300" dirty="0"/>
          </a:p>
        </p:txBody>
      </p:sp>
      <p:pic>
        <p:nvPicPr>
          <p:cNvPr id="27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99610" y="4799409"/>
            <a:ext cx="2536960" cy="895350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9264914" y="4988520"/>
            <a:ext cx="208254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Multi-factor authentication and ATM integration</a:t>
            </a:r>
            <a:endParaRPr lang="en-US" sz="1300" dirty="0"/>
          </a:p>
        </p:txBody>
      </p:sp>
      <p:sp>
        <p:nvSpPr>
          <p:cNvPr id="29" name="Text 15"/>
          <p:cNvSpPr/>
          <p:nvPr/>
        </p:nvSpPr>
        <p:spPr>
          <a:xfrm>
            <a:off x="661475" y="6039247"/>
            <a:ext cx="1147833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roadmap traces the path from the current prototype through enhanced biometric security to a production-ready ATM system.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4363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Conclusion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389459"/>
            <a:ext cx="10868745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project demonstrates an </a:t>
            </a:r>
            <a:r>
              <a:rPr lang="en-US" sz="12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ArcFace-based facial biometric authentication prototype</a:t>
            </a: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enhancing ATM security — integrating real-time face detection, image preprocessing, low-light enhancement, deep metric learning, and cosine similarity matching into a functional Flask-based system.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61475" y="2018506"/>
            <a:ext cx="5366112" cy="891877"/>
          </a:xfrm>
          <a:prstGeom prst="roundRect">
            <a:avLst>
              <a:gd name="adj" fmla="val 2702"/>
            </a:avLst>
          </a:prstGeom>
          <a:solidFill>
            <a:srgbClr val="3F4652"/>
          </a:solidFill>
          <a:ln/>
        </p:spPr>
      </p:sp>
      <p:sp>
        <p:nvSpPr>
          <p:cNvPr id="5" name="Text 3"/>
          <p:cNvSpPr/>
          <p:nvPr/>
        </p:nvSpPr>
        <p:spPr>
          <a:xfrm>
            <a:off x="822106" y="2179141"/>
            <a:ext cx="504485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Real-Time Detection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2106" y="2512020"/>
            <a:ext cx="504485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MTCNN primary detector with OpenCV fallback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54777" y="2027837"/>
            <a:ext cx="5366112" cy="891877"/>
          </a:xfrm>
          <a:prstGeom prst="roundRect">
            <a:avLst>
              <a:gd name="adj" fmla="val 2702"/>
            </a:avLst>
          </a:prstGeom>
          <a:solidFill>
            <a:srgbClr val="3F4652"/>
          </a:solidFill>
          <a:ln/>
        </p:spPr>
      </p:sp>
      <p:sp>
        <p:nvSpPr>
          <p:cNvPr id="8" name="Text 6"/>
          <p:cNvSpPr/>
          <p:nvPr/>
        </p:nvSpPr>
        <p:spPr>
          <a:xfrm>
            <a:off x="6324739" y="2179141"/>
            <a:ext cx="504485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Image Enhancement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324739" y="2512020"/>
            <a:ext cx="504485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CLAHE, gamma correction, and low-light handling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1475" y="3046909"/>
            <a:ext cx="5366112" cy="891877"/>
          </a:xfrm>
          <a:prstGeom prst="roundRect">
            <a:avLst>
              <a:gd name="adj" fmla="val 2702"/>
            </a:avLst>
          </a:prstGeom>
          <a:solidFill>
            <a:srgbClr val="3F4652"/>
          </a:solidFill>
          <a:ln/>
        </p:spPr>
      </p:sp>
      <p:sp>
        <p:nvSpPr>
          <p:cNvPr id="11" name="Text 9"/>
          <p:cNvSpPr/>
          <p:nvPr/>
        </p:nvSpPr>
        <p:spPr>
          <a:xfrm>
            <a:off x="822106" y="3207544"/>
            <a:ext cx="504485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ArcFace Embeddings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22106" y="3540423"/>
            <a:ext cx="504485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 metric learning for robust identity representation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64108" y="3046909"/>
            <a:ext cx="5366112" cy="891877"/>
          </a:xfrm>
          <a:prstGeom prst="roundRect">
            <a:avLst>
              <a:gd name="adj" fmla="val 2702"/>
            </a:avLst>
          </a:prstGeom>
          <a:solidFill>
            <a:srgbClr val="3F4652"/>
          </a:solidFill>
          <a:ln/>
        </p:spPr>
      </p:sp>
      <p:sp>
        <p:nvSpPr>
          <p:cNvPr id="14" name="Text 12"/>
          <p:cNvSpPr/>
          <p:nvPr/>
        </p:nvSpPr>
        <p:spPr>
          <a:xfrm>
            <a:off x="6324739" y="3207544"/>
            <a:ext cx="504485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Cosine Similarity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324739" y="3540423"/>
            <a:ext cx="504485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Threshold-based matching at 0.60 for authentication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02471" y="4245967"/>
            <a:ext cx="1123733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"Facial biometrics can provide an intelligent, contactless, and secure additional authentication layer for future banking and ATM systems."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1475" y="4092377"/>
            <a:ext cx="19050" cy="544909"/>
          </a:xfrm>
          <a:prstGeom prst="roundRect">
            <a:avLst>
              <a:gd name="adj" fmla="val 49999"/>
            </a:avLst>
          </a:prstGeom>
          <a:solidFill>
            <a:srgbClr val="66A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661475" y="4830961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D6E5EF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61475" y="5094883"/>
            <a:ext cx="10868745" cy="69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Thank You</a:t>
            </a:r>
            <a:endParaRPr lang="en-US" sz="4350" dirty="0"/>
          </a:p>
        </p:txBody>
      </p:sp>
      <p:sp>
        <p:nvSpPr>
          <p:cNvPr id="20" name="Text 18"/>
          <p:cNvSpPr/>
          <p:nvPr/>
        </p:nvSpPr>
        <p:spPr>
          <a:xfrm>
            <a:off x="661475" y="5992515"/>
            <a:ext cx="10868745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Questions and Discussion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Editorial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63</TotalTime>
  <Words>835</Words>
  <Application>Microsoft Office PowerPoint</Application>
  <PresentationFormat>Widescreen</PresentationFormat>
  <Paragraphs>173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Roboto</vt:lpstr>
      <vt:lpstr>Arial</vt:lpstr>
      <vt:lpstr>Roboto Slab Light</vt:lpstr>
      <vt:lpstr>Trade Gothic Next Light</vt:lpstr>
      <vt:lpstr>Aptos</vt:lpstr>
      <vt:lpstr>Roboto Slab</vt:lpstr>
      <vt:lpstr>Roboto Bold</vt:lpstr>
      <vt:lpstr>Haettenschweiler</vt:lpstr>
      <vt:lpstr>Editorial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Anuvid</dc:creator>
  <cp:lastModifiedBy>Mohd Nadeem</cp:lastModifiedBy>
  <cp:revision>4</cp:revision>
  <dcterms:created xsi:type="dcterms:W3CDTF">2026-08-25T03:11:06Z</dcterms:created>
  <dcterms:modified xsi:type="dcterms:W3CDTF">2026-08-25T04:19:28Z</dcterms:modified>
</cp:coreProperties>
</file>